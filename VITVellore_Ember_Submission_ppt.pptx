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one-liner. Pause on 'verifies before it answers' — that's the whole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BEFORE FINALISING: set ENABLE_SELF_CRITIQUE=true (it's off by default) and deliberately trigger a rejection. This slide has no visual proof until that screenshot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548640"/>
            <a:ext cx="4023360" cy="4023360"/>
          </a:xfrm>
          <a:prstGeom prst="ellipse">
            <a:avLst/>
          </a:prstGeom>
          <a:solidFill>
            <a:srgbClr val="0B1013">
              <a:alpha val="0"/>
            </a:srgbClr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40680" y="1051560"/>
            <a:ext cx="3017520" cy="3017520"/>
          </a:xfrm>
          <a:prstGeom prst="ellipse">
            <a:avLst/>
          </a:prstGeom>
          <a:solidFill>
            <a:srgbClr val="0B1013">
              <a:alpha val="0"/>
            </a:srgbClr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1554480"/>
            <a:ext cx="2011680" cy="2011680"/>
          </a:xfrm>
          <a:prstGeom prst="ellipse">
            <a:avLst/>
          </a:prstGeom>
          <a:solidFill>
            <a:srgbClr val="0B1013">
              <a:alpha val="0"/>
            </a:srgbClr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46520" y="2057400"/>
            <a:ext cx="1005840" cy="1005840"/>
          </a:xfrm>
          <a:prstGeom prst="ellipse">
            <a:avLst/>
          </a:prstGeom>
          <a:solidFill>
            <a:srgbClr val="0B1013">
              <a:alpha val="0"/>
            </a:srgbClr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76288" y="2487168"/>
            <a:ext cx="146304" cy="146304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18120" y="1463040"/>
            <a:ext cx="91440" cy="91440"/>
          </a:xfrm>
          <a:prstGeom prst="ellipse">
            <a:avLst/>
          </a:prstGeom>
          <a:solidFill>
            <a:srgbClr val="F0B341"/>
          </a:solidFill>
          <a:ln w="12700">
            <a:solidFill>
              <a:srgbClr val="F0B3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06440" y="3520440"/>
            <a:ext cx="91440" cy="91440"/>
          </a:xfrm>
          <a:prstGeom prst="ellipse">
            <a:avLst/>
          </a:prstGeom>
          <a:solidFill>
            <a:srgbClr val="FF5D4D"/>
          </a:solidFill>
          <a:ln w="12700">
            <a:solidFill>
              <a:srgbClr val="FF5D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SAMSUNG PRISM GENAI HACKATHON  ·  THEME 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417320"/>
            <a:ext cx="5029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Sentry</a:t>
            </a:r>
            <a:endParaRPr lang="en-US" sz="7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560320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DE8E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troubleshooting engine that verifies before it answers.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7764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Ember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VIT Vellore  ·  Manya Singh, Krishita Gupta, Muskaan Arora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kern="0" spc="22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SENTRY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4530852" y="3337560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  /  THE NAME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03/17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sen·try  </a:t>
            </a:r>
            <a:r>
              <a:rPr lang="en-US" sz="1500" i="1" dirty="0">
                <a:solidFill>
                  <a:srgbClr val="8BA0A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/ˈsen-trē/  noun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guard posted to watch, check whoever approaches, and stop what doesn't belong.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77440"/>
            <a:ext cx="384048" cy="384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28803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Watches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31012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4FD0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SELF-CRITIQUE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584448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Rescores its own hypotheses against the complaint and shows you what it threw out.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210312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37744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66160" y="28803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Verifies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331012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F0B3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DEEPLINK VALIDATION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3566160" y="3584448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link is matched against the real 578-entry catalog. It never invents a URI.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35040" y="210312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37744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09360" y="28803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Stops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331012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FF5D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OFF-DOMAIN REFUSAL</a:t>
            </a:r>
            <a:endParaRPr lang="en-US" sz="8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3584448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a device problem? It says so, enforced by the prompt and a keyword backstop.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  /  PROBLEM STATEMENT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04/17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48463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“Screen flickers and the battery dies fast.”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That's how customers actually describe problems. Turning it into a fix today means an agent spends </a:t>
            </a:r>
            <a:r>
              <a:rPr lang="en-US" sz="13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~15 minutes</a:t>
            </a:r>
            <a:r>
              <a:rPr lang="en-US" sz="13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triaging it by hand.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Then the customer still hunts through nested Settings menus to apply the fix themselves.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FD0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problems, one sentence, zero structure. That's the input we have to handle.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86868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89320" y="105156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COST PER TICKET · HUMAN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132588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FF5D4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$6–13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5760720" y="265176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89320" y="283464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COST PER TICKET · AI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310896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4FD08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$0.50–2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4389120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4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Aissist.io support cost benchmark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  /  WHAT WE BUILT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05/17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Complaint in. Fix out.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4023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API call turns a messy complaint into a ranked, validated, one-tap fix deeplinked straight to the right Settings screen.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23160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78992" y="2404872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Multimodal input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770632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Text, voice, photo, or photo + sentence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651760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242316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182112" y="2404872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 cache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2834640" y="2770632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Paraphrases served on-device, no LLM call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" y="34290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1188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78992" y="3593592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Self-critique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3959352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Catches and surfaces its own bad guesses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2651760" y="34290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3611880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182112" y="3593592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Honest fallback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2834640" y="3959352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Asks, or admits no match, instead of guessing</a:t>
            </a:r>
            <a:endParaRPr lang="en-US" sz="950" dirty="0"/>
          </a:p>
        </p:txBody>
      </p:sp>
      <p:sp>
        <p:nvSpPr>
          <p:cNvPr id="24" name="Text 18"/>
          <p:cNvSpPr txBox="1"/>
          <p:nvPr/>
        </p:nvSpPr>
        <p:spPr>
          <a:xfrm>
            <a:off x="4892040" y="2423160"/>
            <a:ext cx="3703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5" name="Text 19"/>
          <p:cNvSpPr txBox="1"/>
          <p:nvPr/>
        </p:nvSpPr>
        <p:spPr>
          <a:xfrm>
            <a:off x="5166360" y="2679192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511810"/>
            <a:ext cx="4276090" cy="3825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  /  ARCHITECTURE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06/17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8046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Six stages. One guarded pipeline.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207008" cy="868680"/>
          </a:xfrm>
          <a:prstGeom prst="roundRect">
            <a:avLst>
              <a:gd name="adj" fmla="val 8421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224028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423160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Complaint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679192"/>
            <a:ext cx="102412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· voice · image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773936" y="2583180"/>
            <a:ext cx="146304" cy="0"/>
          </a:xfrm>
          <a:prstGeom prst="line">
            <a:avLst/>
          </a:prstGeom>
          <a:noFill/>
          <a:ln w="12700">
            <a:solidFill>
              <a:srgbClr val="8BA0A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938528" y="2148840"/>
            <a:ext cx="1207008" cy="868680"/>
          </a:xfrm>
          <a:prstGeom prst="roundRect">
            <a:avLst>
              <a:gd name="adj" fmla="val 8421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48256" y="224028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2048256" y="2423160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Enrich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048256" y="2679192"/>
            <a:ext cx="102412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Hinglish-tolerant intent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63824" y="2583180"/>
            <a:ext cx="146304" cy="0"/>
          </a:xfrm>
          <a:prstGeom prst="line">
            <a:avLst/>
          </a:prstGeom>
          <a:noFill/>
          <a:ln w="12700">
            <a:solidFill>
              <a:srgbClr val="8BA0A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328416" y="2148840"/>
            <a:ext cx="1207008" cy="868680"/>
          </a:xfrm>
          <a:prstGeom prst="roundRect">
            <a:avLst>
              <a:gd name="adj" fmla="val 8421"/>
            </a:avLst>
          </a:prstGeom>
          <a:solidFill>
            <a:srgbClr val="17232A"/>
          </a:solidFill>
          <a:ln w="15875">
            <a:solidFill>
              <a:srgbClr val="4FD0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38144" y="224028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3438144" y="2423160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Cache lookup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438144" y="2679192"/>
            <a:ext cx="102412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similarity + polarity veto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53712" y="2583180"/>
            <a:ext cx="146304" cy="0"/>
          </a:xfrm>
          <a:prstGeom prst="line">
            <a:avLst/>
          </a:prstGeom>
          <a:noFill/>
          <a:ln w="12700">
            <a:solidFill>
              <a:srgbClr val="8BA0A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718304" y="2148840"/>
            <a:ext cx="1207008" cy="868680"/>
          </a:xfrm>
          <a:prstGeom prst="roundRect">
            <a:avLst>
              <a:gd name="adj" fmla="val 8421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28032" y="224028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828032" y="2423160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28032" y="2679192"/>
            <a:ext cx="102412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· up to 2 hypotheses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43600" y="2583180"/>
            <a:ext cx="146304" cy="0"/>
          </a:xfrm>
          <a:prstGeom prst="line">
            <a:avLst/>
          </a:prstGeom>
          <a:noFill/>
          <a:ln w="12700">
            <a:solidFill>
              <a:srgbClr val="8BA0A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108192" y="2148840"/>
            <a:ext cx="1207008" cy="868680"/>
          </a:xfrm>
          <a:prstGeom prst="roundRect">
            <a:avLst>
              <a:gd name="adj" fmla="val 8421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0" y="224028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2423160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 + map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2679192"/>
            <a:ext cx="102412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BM25 · catalog deeplinks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33488" y="2583180"/>
            <a:ext cx="146304" cy="0"/>
          </a:xfrm>
          <a:prstGeom prst="line">
            <a:avLst/>
          </a:prstGeom>
          <a:noFill/>
          <a:ln w="12700">
            <a:solidFill>
              <a:srgbClr val="8BA0A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498080" y="2148840"/>
            <a:ext cx="1207008" cy="868680"/>
          </a:xfrm>
          <a:prstGeom prst="roundRect">
            <a:avLst>
              <a:gd name="adj" fmla="val 8421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07808" y="224028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7607808" y="2423160"/>
            <a:ext cx="1024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Critique + rank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607808" y="2679192"/>
            <a:ext cx="1024128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rescore · calibrate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18304" y="1554480"/>
            <a:ext cx="3986784" cy="347472"/>
          </a:xfrm>
          <a:prstGeom prst="roundRect">
            <a:avLst>
              <a:gd name="adj" fmla="val 50000"/>
            </a:avLst>
          </a:prstGeom>
          <a:solidFill>
            <a:srgbClr val="17232A"/>
          </a:solidFill>
          <a:ln w="9525">
            <a:solidFill>
              <a:srgbClr val="F0B341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4718304" y="1554480"/>
            <a:ext cx="39867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B3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every LLM call wrapped in dual-key failover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931920" y="3035808"/>
            <a:ext cx="0" cy="457200"/>
          </a:xfrm>
          <a:prstGeom prst="line">
            <a:avLst/>
          </a:prstGeom>
          <a:noFill/>
          <a:ln w="15875">
            <a:solidFill>
              <a:srgbClr val="4FD08A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4005072" y="310896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FD0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hit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825496" y="3520440"/>
            <a:ext cx="2212848" cy="777240"/>
          </a:xfrm>
          <a:prstGeom prst="roundRect">
            <a:avLst>
              <a:gd name="adj" fmla="val 9412"/>
            </a:avLst>
          </a:prstGeom>
          <a:solidFill>
            <a:srgbClr val="17232A"/>
          </a:solidFill>
          <a:ln w="12700">
            <a:solidFill>
              <a:srgbClr val="4FD08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962656" y="3593592"/>
            <a:ext cx="193852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D0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Served on-device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 LLM calls · $0 · &lt; 25 ms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101584" y="3035808"/>
            <a:ext cx="0" cy="457200"/>
          </a:xfrm>
          <a:prstGeom prst="line">
            <a:avLst/>
          </a:prstGeom>
          <a:noFill/>
          <a:ln w="12700">
            <a:solidFill>
              <a:srgbClr val="8BA0A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492240" y="3520440"/>
            <a:ext cx="2212848" cy="777240"/>
          </a:xfrm>
          <a:prstGeom prst="roundRect">
            <a:avLst>
              <a:gd name="adj" fmla="val 9412"/>
            </a:avLst>
          </a:prstGeom>
          <a:solidFill>
            <a:srgbClr val="17232A"/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629400" y="3593592"/>
            <a:ext cx="198424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 JSON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ranked goals · deeplinks · telemetry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07  /  THE OBVIOUS QUESTION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07/17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8046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Isn't this just Google search?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1417320"/>
          <a:ext cx="8046720" cy="2194560"/>
        </p:xfrm>
        <a:graphic>
          <a:graphicData uri="http://schemas.openxmlformats.org/drawingml/2006/table">
            <a:tbl>
              <a:tblPr/>
              <a:tblGrid>
                <a:gridCol w="1554480"/>
                <a:gridCol w="3017520"/>
                <a:gridCol w="347472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00" dirty="0">
                          <a:solidFill>
                            <a:srgbClr val="8BA0A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GOOGLE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00" dirty="0">
                          <a:solidFill>
                            <a:srgbClr val="4FD08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SENTRY</a:t>
                      </a:r>
                      <a:endParaRPr lang="en-US" sz="9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You give it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Keywords you have to guess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Your complaint, typed, spoken or photographed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It gives you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Ten links to read and compare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Ranked causes with a confidence score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 last mile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You dig through Settings yourself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One tap straight to the exact screen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Trust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You judge every source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Every link checked against the real catalog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When unsure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Always returns something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Asks one question, or says no match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DE8E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Google finds information for you to interpret. Sentry makes the decision and hands you the fix, already verified, already one tap away.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08  /  THE VERIFIED CACHE, LIVE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08/17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822960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4FD08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&lt; 25 ms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38988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cache lookup, P95 on unseen paraphrases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847088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$0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41401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 cached answer, no API call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871216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 bytes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3438144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the complaint leave the device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3886200"/>
            <a:ext cx="2560320" cy="685800"/>
          </a:xfrm>
          <a:prstGeom prst="roundRect">
            <a:avLst>
              <a:gd name="adj" fmla="val 10667"/>
            </a:avLst>
          </a:prstGeom>
          <a:solidFill>
            <a:srgbClr val="17232A"/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393192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“turn Bluetooth on” ≠ “off”</a:t>
            </a:r>
            <a:endParaRPr lang="en-US" sz="1050" dirty="0"/>
          </a:p>
          <a:p>
            <a:pPr marL="0" indent="0">
              <a:buNone/>
            </a:pPr>
            <a:r>
              <a:rPr lang="en-US" sz="8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polarity + entity veto stops near-identical embeddings from serving the wrong fix.</a:t>
            </a:r>
            <a:endParaRPr lang="en-US" sz="1050" dirty="0"/>
          </a:p>
        </p:txBody>
      </p:sp>
      <p:pic>
        <p:nvPicPr>
          <p:cNvPr id="16" name="Picture 15" descr="Screenshot 2026-10-01 1442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585216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09  /  RANKED HYPOTHESES + CONFIDENCE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09/17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42062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It shows you how sure it is.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39319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bold design choice: a radial gauge per hypothesis, instead of a buried number. Colour tells you at a glance whether to tap or to double-check.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07792"/>
            <a:ext cx="182880" cy="182880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834640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≥ 0.90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834640"/>
            <a:ext cx="2651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50% land on the exact screen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410712"/>
            <a:ext cx="182880" cy="182880"/>
          </a:xfrm>
          <a:prstGeom prst="ellipse">
            <a:avLst/>
          </a:prstGeom>
          <a:solidFill>
            <a:srgbClr val="F0B341"/>
          </a:solidFill>
          <a:ln w="12700">
            <a:solidFill>
              <a:srgbClr val="F0B3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337560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0.70–0.89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3337560"/>
            <a:ext cx="2651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25% exact, rest fall back safely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13632"/>
            <a:ext cx="182880" cy="182880"/>
          </a:xfrm>
          <a:prstGeom prst="ellipse">
            <a:avLst/>
          </a:prstGeom>
          <a:solidFill>
            <a:srgbClr val="FF5D4D"/>
          </a:solidFill>
          <a:ln w="12700">
            <a:solidFill>
              <a:srgbClr val="FF5D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840480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0.50–0.69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3840480"/>
            <a:ext cx="2651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routes to a safe parent screen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4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Calibration measured on sample data; small n, directional only.</a:t>
            </a:r>
            <a:endParaRPr lang="en-US" sz="800" dirty="0"/>
          </a:p>
        </p:txBody>
      </p:sp>
      <p:pic>
        <p:nvPicPr>
          <p:cNvPr id="21" name="Picture 20" descr="Screenshot 2026-10-01 144335"/>
          <p:cNvPicPr>
            <a:picLocks noChangeAspect="1"/>
          </p:cNvPicPr>
          <p:nvPr/>
        </p:nvPicPr>
        <p:blipFill rotWithShape="1">
          <a:blip r:embed="rId1"/>
          <a:srcRect l="10330" r="12143"/>
          <a:stretch>
            <a:fillRect/>
          </a:stretch>
        </p:blipFill>
        <p:spPr bwMode="auto">
          <a:xfrm>
            <a:off x="4834890" y="635"/>
            <a:ext cx="4309110" cy="514286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  /  SELF-CRITIQUE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10/17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0030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74520"/>
            <a:ext cx="3657600" cy="195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Purple “Self-Critique in Action” banner rejecting a hypothesis live</a:t>
            </a:r>
            <a:endParaRPr lang="en-US" sz="1100" i="1" dirty="0">
              <a:solidFill>
                <a:srgbClr val="8BA0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en-US" altLang="en-US" sz="1100" i="1" dirty="0">
              <a:solidFill>
                <a:srgbClr val="8BA0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altLang="en-US" sz="1100" i="1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feature is implemented and verified in our automated test suite (test_self_critique.py, 7/7 passing), including a mocked rejection scenario. A live rejection is probabilistic, it depends on the model generating a genuinely weak hypothesis, and we weren't able to reliably reproduce one on demand for this screenshot.</a:t>
            </a:r>
            <a:endParaRPr lang="en-US" altLang="en-US" sz="1100" i="1" dirty="0">
              <a:solidFill>
                <a:srgbClr val="8BA0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713232"/>
            <a:ext cx="3474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It catches itself, out loud.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1874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D0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1874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Rescore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216712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second pass checks each hypothesis against the original complaint.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7432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D0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27432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Reject visibly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303580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Discarded guesses are shown to the user, not quietly hidden.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6118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D0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36118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Stay in budget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390448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only if under 4 s so far, with a hard 2 s timeout.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11  /  MULTIMODAL INPUT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11/17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8046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Describe it however it's easiest.</a:t>
            </a:r>
            <a:endParaRPr lang="en-US" sz="3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9776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32688" y="3959352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 it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427939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“phone gets hot while charging”</a:t>
            </a:r>
            <a:endParaRPr lang="en-US" sz="9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397764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675888" y="3959352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Say it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675888" y="427939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 complaint, transcribed and enriched</a:t>
            </a:r>
            <a:endParaRPr lang="en-US" sz="9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97764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419088" y="3959352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it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6419088" y="427939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photo of the problem, with or without a sentence</a:t>
            </a:r>
            <a:endParaRPr lang="en-US" sz="950" dirty="0"/>
          </a:p>
        </p:txBody>
      </p:sp>
      <p:pic>
        <p:nvPicPr>
          <p:cNvPr id="525471541" name="Pictur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22" r="10336" b="19123"/>
          <a:stretch>
            <a:fillRect/>
          </a:stretch>
        </p:blipFill>
        <p:spPr bwMode="auto">
          <a:xfrm>
            <a:off x="3080385" y="1292860"/>
            <a:ext cx="2781935" cy="2557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4224741" name="Picture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9" r="12985" b="24826"/>
          <a:stretch>
            <a:fillRect/>
          </a:stretch>
        </p:blipFill>
        <p:spPr bwMode="auto">
          <a:xfrm>
            <a:off x="212090" y="1292860"/>
            <a:ext cx="2874645" cy="2418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493353" name="Picture 5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4" r="8179" b="19591"/>
          <a:stretch>
            <a:fillRect/>
          </a:stretch>
        </p:blipFill>
        <p:spPr bwMode="auto">
          <a:xfrm>
            <a:off x="6035040" y="1094105"/>
            <a:ext cx="2955925" cy="27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  /  PROOF AT SCALE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12/17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8046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It already works at scale.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TELUS runs AI-assisted support on the same Gemini model family Sentry is built 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3172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87%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918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resolution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01168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233172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4FD08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$53.9M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2918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201168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233172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30%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2918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issues resolved autonomously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5196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4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TELUS × Google Cloud customer case study. Same model family, not the same product.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13  /  RESULTS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13/17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8046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We ran the ablation. Hybrid wins.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548640" y="1417320"/>
          <a:ext cx="4937760" cy="1536192"/>
        </p:xfrm>
        <a:graphic>
          <a:graphicData uri="http://schemas.openxmlformats.org/drawingml/2006/table">
            <a:tbl>
              <a:tblPr/>
              <a:tblGrid>
                <a:gridCol w="1600200"/>
                <a:gridCol w="731520"/>
                <a:gridCol w="1097280"/>
                <a:gridCol w="594360"/>
                <a:gridCol w="91440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BA0A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VARIANT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BA0A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SCHEMA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BA0A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DEEPLINK ACC.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BA0A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P95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BA0A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COST / QUERY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FD08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 · Hybrid BM25 (ours)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 (9/9)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5.0 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$0.00027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 · LLM only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70%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56% (5/9)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6.3 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$0.00084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 · Rules only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78% (7/9)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5.0 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$0.00018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108960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LLM-only invented non-catalog URIs on 3 queries and attached deeplinks to reboot steps. Rules-only mapped “app” and “camera” to the wrong screens.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434840"/>
            <a:ext cx="4937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74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Ablation on the sample query set.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806440" y="1417320"/>
            <a:ext cx="2788920" cy="3200400"/>
          </a:xfrm>
          <a:prstGeom prst="roundRect">
            <a:avLst>
              <a:gd name="adj" fmla="val 2623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89320" y="1572768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OFFICIAL 578-ENTRY CATALOG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187452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4FD08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1874520"/>
            <a:ext cx="1325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held-out  ·  18/18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2587752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94%</a:t>
            </a:r>
            <a:endParaRPr lang="en-US" sz="3000" dirty="0"/>
          </a:p>
        </p:txBody>
      </p:sp>
      <p:sp>
        <p:nvSpPr>
          <p:cNvPr id="6" name="Text 11"/>
          <p:cNvSpPr txBox="1"/>
          <p:nvPr/>
        </p:nvSpPr>
        <p:spPr>
          <a:xfrm>
            <a:off x="7178040" y="2587752"/>
            <a:ext cx="1325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development  ·  31/33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989320" y="3300984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91%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3300984"/>
            <a:ext cx="1325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calibration  ·  20/22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989320" y="40690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DDE8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wrong screen in 73 cases. Misses fall back safely.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14  /  RELIABILITY ENGINEERING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14/17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8046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Every failure has a ceiling.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COLD PATH, P95 vs. 8 s SPEC CEILING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8046720" cy="310896"/>
          </a:xfrm>
          <a:prstGeom prst="roundRect">
            <a:avLst>
              <a:gd name="adj" fmla="val 50000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37360"/>
            <a:ext cx="5069434" cy="310896"/>
          </a:xfrm>
          <a:prstGeom prst="roundRect">
            <a:avLst>
              <a:gd name="adj" fmla="val 50000"/>
            </a:avLst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737360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01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5.04 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452360" y="1737360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8.0 s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48640" y="2331720"/>
          <a:ext cx="8046720" cy="2194560"/>
        </p:xfrm>
        <a:graphic>
          <a:graphicData uri="http://schemas.openxmlformats.org/drawingml/2006/table">
            <a:tbl>
              <a:tblPr/>
              <a:tblGrid>
                <a:gridCol w="2377440"/>
                <a:gridCol w="4297680"/>
                <a:gridCol w="1371600"/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BA0A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WHAT BREAKS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BA0A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WHAT SENTRY DOES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BA0A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BOUND</a:t>
                      </a:r>
                      <a:endParaRPr lang="en-US" sz="8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Primary key hits quota (429)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Backup key takes over inside the same request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FD08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invisible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Both keys exhausted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Fails fast, no backoff; clean honest response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FD08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&lt; 500 ms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Upstream 503 / timeout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One retry, then a clean fallback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FD08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≤ 8 s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EE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Self-critique runs slow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BA0A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Skipped past 4 s elapsed; hard 2 s timeout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FD08A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≤ 8 s</a:t>
                      </a:r>
                      <a:endParaRPr lang="en-US" sz="10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09728" marT="0" marB="0" anchor="ctr">
                    <a:lnL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15  /  CAN THIS BE A WORKLET?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15/17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dirty="0">
                <a:solidFill>
                  <a:srgbClr val="4FD08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Yes.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DE8E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And the path is short, not theoretical.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749040" y="86868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31920" y="10332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D0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00584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Swap in the full catalog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1325880"/>
            <a:ext cx="402336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Retrieval was built on the same schema from day one. The official 578-entry catalog already runs with zero code changes.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210312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31920" y="22677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D0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24028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 with on-device privacy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2560320"/>
            <a:ext cx="402336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cache hit never calls Gemini and never leaves the phone. That fits how Galaxy AI already talks about on-device processing.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49040" y="333756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31920" y="35021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D0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347472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Harden retrieval for real phrasing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3794760"/>
            <a:ext cx="402336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Production users are messier than any hackathon set. The architecture absorbs more data without a redesign.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16  /  KNOWN LIMITATIONS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16/17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8046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we'd tell you before you asked.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0B34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Late dataset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242316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official PRISM dataset arrived mid-hackathon. We built on sample data, then benchmarked against the real catalog once it landed.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6916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0B34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Free-tier Gemini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148840"/>
            <a:ext cx="242316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per-minute and per-day request limits. The dual-key failover exists because of this, and it's tested, not theoretical.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6916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0B34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heuristic, not a law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148840"/>
            <a:ext cx="242316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action, one screen is enforced as a warning check, not a hard rejection. Detecting it from text alone is a judgment call.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17232A"/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794760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DE8E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None of these touch the architecture. Each one is a next step, not a rewrite.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82296" cy="82296"/>
          </a:xfrm>
          <a:prstGeom prst="ellipse">
            <a:avLst/>
          </a:prstGeom>
          <a:solidFill>
            <a:srgbClr val="4FD08A"/>
          </a:solidFill>
          <a:ln w="12700">
            <a:solidFill>
              <a:srgbClr val="4FD0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347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17  /  BUILT WITH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754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00" dirty="0">
                <a:solidFill>
                  <a:srgbClr val="5F747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SENTRY · TEAM EMBER   17/17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035040" y="914400"/>
            <a:ext cx="2743200" cy="2743200"/>
          </a:xfrm>
          <a:prstGeom prst="ellipse">
            <a:avLst/>
          </a:prstGeom>
          <a:solidFill>
            <a:srgbClr val="0B1013">
              <a:alpha val="0"/>
            </a:srgbClr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1371600"/>
            <a:ext cx="1828800" cy="1828800"/>
          </a:xfrm>
          <a:prstGeom prst="ellipse">
            <a:avLst/>
          </a:prstGeom>
          <a:solidFill>
            <a:srgbClr val="0B1013">
              <a:alpha val="0"/>
            </a:srgbClr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1828800"/>
            <a:ext cx="914400" cy="914400"/>
          </a:xfrm>
          <a:prstGeom prst="ellipse">
            <a:avLst/>
          </a:prstGeom>
          <a:solidFill>
            <a:srgbClr val="0B1013">
              <a:alpha val="0"/>
            </a:srgbClr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777240"/>
            <a:ext cx="54864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E8EEF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you.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818388" cy="329184"/>
          </a:xfrm>
          <a:prstGeom prst="roundRect">
            <a:avLst>
              <a:gd name="adj" fmla="val 50000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057400"/>
            <a:ext cx="8183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E8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504188" y="2057400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04188" y="2057400"/>
            <a:ext cx="89611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E8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Pydantic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37460" y="2057400"/>
            <a:ext cx="1284732" cy="329184"/>
          </a:xfrm>
          <a:prstGeom prst="roundRect">
            <a:avLst>
              <a:gd name="adj" fmla="val 50000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37460" y="2057400"/>
            <a:ext cx="12847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E8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Gemini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59352" y="2057400"/>
            <a:ext cx="1362456" cy="329184"/>
          </a:xfrm>
          <a:prstGeom prst="roundRect">
            <a:avLst>
              <a:gd name="adj" fmla="val 50000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59352" y="2057400"/>
            <a:ext cx="136245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E8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BM25 retrieval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514600"/>
            <a:ext cx="1517904" cy="329184"/>
          </a:xfrm>
          <a:prstGeom prst="roundRect">
            <a:avLst>
              <a:gd name="adj" fmla="val 50000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514600"/>
            <a:ext cx="151790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E8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Dense embeddings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03704" y="2514600"/>
            <a:ext cx="973836" cy="329184"/>
          </a:xfrm>
          <a:prstGeom prst="roundRect">
            <a:avLst>
              <a:gd name="adj" fmla="val 50000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03704" y="2514600"/>
            <a:ext cx="9738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E8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fastembed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14700" y="2514600"/>
            <a:ext cx="740664" cy="329184"/>
          </a:xfrm>
          <a:prstGeom prst="roundRect">
            <a:avLst>
              <a:gd name="adj" fmla="val 50000"/>
            </a:avLst>
          </a:prstGeom>
          <a:solidFill>
            <a:srgbClr val="111A1F"/>
          </a:solidFill>
          <a:ln w="9525">
            <a:solidFill>
              <a:srgbClr val="23313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14700" y="2514600"/>
            <a:ext cx="74066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E8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520440"/>
            <a:ext cx="57607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8EE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Ember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A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Manya Singh  ·  Krishita Gupta  ·  Mukaan Arora  ·  VIT Vellore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dirty="0">
                <a:solidFill>
                  <a:srgbClr val="8BA0A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github.com/manya-singh7/diagnos-ai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6892</Words>
  <Application>WPS Presentation</Application>
  <PresentationFormat>On-screen Show (16:9)</PresentationFormat>
  <Paragraphs>464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SimSun</vt:lpstr>
      <vt:lpstr>Wingdings</vt:lpstr>
      <vt:lpstr>Consolas</vt:lpstr>
      <vt:lpstr>Consolas</vt:lpstr>
      <vt:lpstr>Consolas</vt:lpstr>
      <vt:lpstr>Georgia</vt:lpstr>
      <vt:lpstr>Georgia</vt:lpstr>
      <vt:lpstr>Georgia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Sentry — Team Ember</dc:title>
  <dc:creator>PptxGenJS</dc:creator>
  <dc:subject>PptxGenJS Presentation</dc:subject>
  <cp:lastModifiedBy>Manya Singh</cp:lastModifiedBy>
  <cp:revision>3</cp:revision>
  <dcterms:created xsi:type="dcterms:W3CDTF">2026-09-30T18:26:00Z</dcterms:created>
  <dcterms:modified xsi:type="dcterms:W3CDTF">2026-10-01T14:31:29Z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F0A9A42773C24E33B9549977C912E723_13</vt:lpwstr>
  </property>
</Properties>
</file>