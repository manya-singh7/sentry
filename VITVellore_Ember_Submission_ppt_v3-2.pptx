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3" r:id="rId24"/>
    <p:sldId id="259" r:id="rId7"/>
    <p:sldId id="262" r:id="rId10"/>
    <p:sldId id="260" r:id="rId8"/>
    <p:sldId id="258" r:id="rId6"/>
    <p:sldId id="261" r:id="rId9"/>
    <p:sldId id="263" r:id="rId11"/>
    <p:sldId id="264" r:id="rId12"/>
    <p:sldId id="265" r:id="rId13"/>
    <p:sldId id="266" r:id="rId14"/>
    <p:sldId id="275" r:id="rId26"/>
    <p:sldId id="267" r:id="rId15"/>
    <p:sldId id="274" r:id="rId25"/>
    <p:sldId id="268" r:id="rId16"/>
    <p:sldId id="269" r:id="rId17"/>
    <p:sldId id="271" r:id="rId19"/>
    <p:sldId id="270" r:id="rId18"/>
    <p:sldId id="276" r:id="rId27"/>
    <p:sldId id="277" r:id="rId28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3.xml"/><Relationship Id="rId8" Type="http://schemas.openxmlformats.org/officeDocument/2006/relationships/slide" Target="slides/slide5.xml"/><Relationship Id="rId9" Type="http://schemas.openxmlformats.org/officeDocument/2006/relationships/slide" Target="slides/slide7.xml"/><Relationship Id="rId10" Type="http://schemas.openxmlformats.org/officeDocument/2006/relationships/slide" Target="slides/slide4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8.xml"/><Relationship Id="rId19" Type="http://schemas.openxmlformats.org/officeDocument/2006/relationships/slide" Target="slides/slide17.xml"/><Relationship Id="rId20" Type="http://schemas.openxmlformats.org/officeDocument/2006/relationships/slide" Target="slides/slide2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4" Type="http://schemas.openxmlformats.org/officeDocument/2006/relationships/slide" Target="slides/slide2.xml"/><Relationship Id="rId25" Type="http://schemas.openxmlformats.org/officeDocument/2006/relationships/slide" Target="slides/slide14.xml"/><Relationship Id="rId26" Type="http://schemas.openxmlformats.org/officeDocument/2006/relationships/slide" Target="slides/slide12.xml"/><Relationship Id="rId27" Type="http://schemas.openxmlformats.org/officeDocument/2006/relationships/slide" Target="slides/slide19.xml"/><Relationship Id="rId28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one-liner. Pause on 'verifies before it answers' — that's the whole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manya-singh7/Sentr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manya-singh7/Sentry" TargetMode="External"/><Relationship Id="rId4" Type="http://schemas.openxmlformats.org/officeDocument/2006/relationships/hyperlink" Target="https://drive.google.com/drive/folders/10wWDvrdxXd-FzyDGN1MgAOmW6UMZNec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548640"/>
            <a:ext cx="4023360" cy="402336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40680" y="1051560"/>
            <a:ext cx="3017520" cy="301752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943600" y="1554480"/>
            <a:ext cx="2011680" cy="201168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46520" y="2057400"/>
            <a:ext cx="1005840" cy="100584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76288" y="2487168"/>
            <a:ext cx="146304" cy="146304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818120" y="1463040"/>
            <a:ext cx="91440" cy="91440"/>
          </a:xfrm>
          <a:prstGeom prst="ellipse">
            <a:avLst/>
          </a:prstGeom>
          <a:solidFill>
            <a:srgbClr val="F0B341"/>
          </a:solidFill>
          <a:ln w="12700">
            <a:solidFill>
              <a:srgbClr val="F0B341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806440" y="3520440"/>
            <a:ext cx="91440" cy="91440"/>
          </a:xfrm>
          <a:prstGeom prst="ellipse">
            <a:avLst/>
          </a:prstGeom>
          <a:solidFill>
            <a:srgbClr val="FF5D4D"/>
          </a:solidFill>
          <a:ln w="12700">
            <a:solidFill>
              <a:srgbClr val="FF5D4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48640" y="54864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SAMSUNG PRISM  ·  GENERATIVE AI HACKATHON</a:t>
            </a:r>
            <a:endParaRPr lang="en-US" sz="900" dirty="0"/>
          </a:p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3RD EDITION 2026–27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86868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Sentry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96596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DE8E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troubleshooting engine that verifies before it answers.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788920"/>
            <a:ext cx="45720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 ID: Theme 02 · Smart Guided Troubleshooting Engine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Ember  ·  VIT Vellore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Manya Singh  ·  manya.praveensingh2024@vitstudent.ac.in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Krishita Gupta  ·  krishita.anandgupta2024@vitstudent.ac.in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Muskaan Arora  ·  muskaan.arora2024@vitstudent.ac.in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3"/>
              </a:rPr>
              <a:t>GitHub: https://github.com/manya-singh7/Sentry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  /  THEME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02/21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Smart Guided Troubleshooting Engine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 02  ·  Vague device complaints in, validated one-tap troubleshooting plans out.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22960" y="233172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Input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76148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WHAT COMES IN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035808"/>
            <a:ext cx="2011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free-text complaint, plus optional SIIS reference text that the plan must be built from.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210312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3566160" y="233172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Output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276148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0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WHAT GOES OUT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3035808"/>
            <a:ext cx="2011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Pure JSON: goal, ordered actions, UI steps, catalog deeplinks, 8–10 query variations.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210312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 txBox="1"/>
          <p:nvPr/>
        </p:nvSpPr>
        <p:spPr>
          <a:xfrm>
            <a:off x="6309360" y="233172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Speed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76148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F5D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THEME TARGETS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3035808"/>
            <a:ext cx="2011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P95 ≤ 300 ms for issues seen before. P95 ≤ 8 s for brand-new ones.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  /  PROBLEM STATEMENT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03/21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“Screen flickers and the battery dies fast.”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That's how customers really talk. Today an agent reads SIIS knowledge-base articles, works out the cause and picks the steps by hand: about 15 minutes per scenario.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Then the customer still digs through nested Settings menus to apply the fix.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FD0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problems, one sentence, zero structure. That's the input we have to handle.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86868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989320" y="105156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MANUAL TRIAGE · PER SCENARIO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132588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5D4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~15 min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5760720" y="265176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989320" y="283464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INTERACTIONS · GLOBALLY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310896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4FD08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Millions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438912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Samsung PRISM Theme 2 problem statement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  /  EXISTING SOLUTIONS &amp; GAPS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04/21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Why not search, or a chatbot?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417320"/>
          <a:ext cx="8046720" cy="219456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347472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GOOGLE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SENTRY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You give it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Keywords you have to guess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Your complaint, typed, spoken or photographed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It gives you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Ten links to read and compare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Ranked causes with a confidence score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last mile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You dig through Settings yourself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tap straight to the exact screen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Trust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You judge every source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Every link checked against the real catalog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When unsure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Always returns something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Asks one question, or says no match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730752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DE8E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Today's baseline is manual: an agent reads SIIS articles, about 15 minutes per scenario. Generic LLM chatbots are faster but invent help URLs and steps, which Theme 2 forbids. Sentry makes the decision, verifies it, and hands you the fix one tap away.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  /  OUR SOLUTION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05/21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Complaint in. Fix out.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API call turns a messy complaint into a ranked, validated, one-tap fix deeplinked straight to the right Settings screen.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231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8992" y="2404872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Multimodal input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77063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Text, voice, photo, or photo + sentence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51760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42316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82112" y="2404872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cache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834640" y="277063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Paraphrases served from cache, no LLM call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429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78992" y="3593592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Self-critique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395935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Catches and surfaces its own bad guesses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651760" y="3429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361188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182112" y="3593592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Honest fallback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2834640" y="395935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Asks, or admits no match, instead of guessing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4892040" y="2423160"/>
            <a:ext cx="3703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5166360" y="267919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511810"/>
            <a:ext cx="4276090" cy="3825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  /  THE NAME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06/21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sen·try  </a:t>
            </a:r>
            <a:r>
              <a:rPr lang="en-US" sz="1500" i="1" dirty="0">
                <a:solidFill>
                  <a:srgbClr val="8BA0A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/ˈsen-trē/  noun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guard posted to watch, check whoever approaches, and stop what doesn't belong.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77440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8803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Watches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31012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SELF-CRITIQUE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8444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Rescores its own hypotheses against the complaint and shows you what it threw out.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210312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37744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28803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Verifies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31012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0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DEEPLINK VALIDATION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358444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link is matched against the real 578-entry catalog. It never invents a URI.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210312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37744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09360" y="28803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Stops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331012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F5D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OFF-DOMAIN REFUSAL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358444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a device problem? It says so, enforced by the prompt and a keyword backstop.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  /  ARCHITECTURE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07/21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Six stages. One guarded pipeline.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207008" cy="868680"/>
          </a:xfrm>
          <a:prstGeom prst="roundRect">
            <a:avLst>
              <a:gd name="adj" fmla="val 8421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58368" y="22402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42316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Complaint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679192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· voice · image + SIIS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73936" y="2583180"/>
            <a:ext cx="146304" cy="0"/>
          </a:xfrm>
          <a:prstGeom prst="line">
            <a:avLst/>
          </a:prstGeom>
          <a:noFill/>
          <a:ln w="12700">
            <a:solidFill>
              <a:srgbClr val="8BA0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938528" y="2148840"/>
            <a:ext cx="1207008" cy="868680"/>
          </a:xfrm>
          <a:prstGeom prst="roundRect">
            <a:avLst>
              <a:gd name="adj" fmla="val 8421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048256" y="22402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048256" y="242316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Enrich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048256" y="2679192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canonical query · 8–10 variations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63824" y="2583180"/>
            <a:ext cx="146304" cy="0"/>
          </a:xfrm>
          <a:prstGeom prst="line">
            <a:avLst/>
          </a:prstGeom>
          <a:noFill/>
          <a:ln w="12700">
            <a:solidFill>
              <a:srgbClr val="8BA0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28416" y="2148840"/>
            <a:ext cx="1207008" cy="868680"/>
          </a:xfrm>
          <a:prstGeom prst="roundRect">
            <a:avLst>
              <a:gd name="adj" fmla="val 8421"/>
            </a:avLst>
          </a:prstGeom>
          <a:solidFill>
            <a:srgbClr val="17232A"/>
          </a:solidFill>
          <a:ln w="15875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438144" y="22402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3438144" y="242316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 lookup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38144" y="2679192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similarity + polarity veto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53712" y="2583180"/>
            <a:ext cx="146304" cy="0"/>
          </a:xfrm>
          <a:prstGeom prst="line">
            <a:avLst/>
          </a:prstGeom>
          <a:noFill/>
          <a:ln w="12700">
            <a:solidFill>
              <a:srgbClr val="8BA0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718304" y="2148840"/>
            <a:ext cx="1207008" cy="868680"/>
          </a:xfrm>
          <a:prstGeom prst="roundRect">
            <a:avLst>
              <a:gd name="adj" fmla="val 8421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828032" y="22402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828032" y="242316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28032" y="2679192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· grounded in SIIS text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0" y="2583180"/>
            <a:ext cx="146304" cy="0"/>
          </a:xfrm>
          <a:prstGeom prst="line">
            <a:avLst/>
          </a:prstGeom>
          <a:noFill/>
          <a:ln w="12700">
            <a:solidFill>
              <a:srgbClr val="8BA0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108192" y="2148840"/>
            <a:ext cx="1207008" cy="868680"/>
          </a:xfrm>
          <a:prstGeom prst="roundRect">
            <a:avLst>
              <a:gd name="adj" fmla="val 8421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217920" y="22402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242316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 + map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2679192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BM25 · catalog deeplinks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33488" y="2583180"/>
            <a:ext cx="146304" cy="0"/>
          </a:xfrm>
          <a:prstGeom prst="line">
            <a:avLst/>
          </a:prstGeom>
          <a:noFill/>
          <a:ln w="12700">
            <a:solidFill>
              <a:srgbClr val="8BA0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498080" y="2148840"/>
            <a:ext cx="1207008" cy="868680"/>
          </a:xfrm>
          <a:prstGeom prst="roundRect">
            <a:avLst>
              <a:gd name="adj" fmla="val 8421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7607808" y="22402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7607808" y="242316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+ rank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607808" y="2679192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 first · critical last · optional critique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18304" y="1554480"/>
            <a:ext cx="3986784" cy="347472"/>
          </a:xfrm>
          <a:prstGeom prst="roundRect">
            <a:avLst>
              <a:gd name="adj" fmla="val 50000"/>
            </a:avLst>
          </a:prstGeom>
          <a:solidFill>
            <a:srgbClr val="17232A"/>
          </a:solidFill>
          <a:ln w="9525">
            <a:solidFill>
              <a:srgbClr val="F0B341"/>
            </a:solidFill>
            <a:prstDash val="dash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4718304" y="1554480"/>
            <a:ext cx="39867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every LLM call wrapped in dual-key failover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931920" y="3035808"/>
            <a:ext cx="0" cy="457200"/>
          </a:xfrm>
          <a:prstGeom prst="line">
            <a:avLst/>
          </a:prstGeom>
          <a:noFill/>
          <a:ln w="15875">
            <a:solidFill>
              <a:srgbClr val="4FD08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4005072" y="310896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hit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825496" y="3520440"/>
            <a:ext cx="2212848" cy="777240"/>
          </a:xfrm>
          <a:prstGeom prst="roundRect">
            <a:avLst>
              <a:gd name="adj" fmla="val 9412"/>
            </a:avLst>
          </a:prstGeom>
          <a:solidFill>
            <a:srgbClr val="17232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2962656" y="3593592"/>
            <a:ext cx="19385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D0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Served from cache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LLM calls · $0 · &lt; 25 ms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01584" y="3035808"/>
            <a:ext cx="0" cy="457200"/>
          </a:xfrm>
          <a:prstGeom prst="line">
            <a:avLst/>
          </a:prstGeom>
          <a:noFill/>
          <a:ln w="12700">
            <a:solidFill>
              <a:srgbClr val="8BA0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492240" y="3520440"/>
            <a:ext cx="2212848" cy="777240"/>
          </a:xfrm>
          <a:prstGeom prst="roundRect">
            <a:avLst>
              <a:gd name="adj" fmla="val 9412"/>
            </a:avLst>
          </a:prstGeom>
          <a:solidFill>
            <a:srgbClr val="17232A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6629400" y="3593592"/>
            <a:ext cx="19842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JSON, or no_match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URL leaks · catalog deeplinks · meta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  /  DEMO · THE VERIFIED CACHE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08/21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82296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4FD08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&lt; 25 ms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38988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 lookup, P95 on unseen paraphrases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847088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$0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414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cached answer, no API call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871216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≤ 300 ms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43814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 2 cache-hit target (P95)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388620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17232A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172200" y="393192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“turn Bluetooth on” ≠ “off”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polarity + entity veto stops near-identical embeddings from serving the wrong fix.</a:t>
            </a:r>
            <a:endParaRPr lang="en-US" sz="1050" dirty="0"/>
          </a:p>
        </p:txBody>
      </p:sp>
      <p:pic>
        <p:nvPicPr>
          <p:cNvPr id="16" name="Picture 15" descr="Screenshot 2026-10-01 1442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585216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  /  DEMO · RANKED HYPOTHESES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09/21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It shows you how sure it is.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bold design choice: a radial gauge per hypothesis, instead of a buried number. Colour tells you at a glance whether to tap or to double-check.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182880" cy="182880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68680" y="283464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≥ 0.90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834640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 land on the exact screen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182880" cy="182880"/>
          </a:xfrm>
          <a:prstGeom prst="ellipse">
            <a:avLst/>
          </a:prstGeom>
          <a:solidFill>
            <a:srgbClr val="F0B341"/>
          </a:solidFill>
          <a:ln w="12700">
            <a:solidFill>
              <a:srgbClr val="F0B34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68680" y="333756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0.70–0.89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337560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25% exact, rest fall back safely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182880" cy="182880"/>
          </a:xfrm>
          <a:prstGeom prst="ellipse">
            <a:avLst/>
          </a:prstGeom>
          <a:solidFill>
            <a:srgbClr val="FF5D4D"/>
          </a:solidFill>
          <a:ln w="12700">
            <a:solidFill>
              <a:srgbClr val="FF5D4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68680" y="384048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0.50–0.69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840480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routes to a safe parent screen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2452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data, n = 3 / 4 / 1 goals per band; directional only. “Exact” = a specific catalog screen. Self-critique is optional (off by default).</a:t>
            </a:r>
            <a:endParaRPr lang="en-US" sz="800" dirty="0"/>
          </a:p>
        </p:txBody>
      </p:sp>
      <p:pic>
        <p:nvPicPr>
          <p:cNvPr id="21" name="Picture 20" descr="Screenshot 2026-10-01 144335"/>
          <p:cNvPicPr>
            <a:picLocks noChangeAspect="1"/>
          </p:cNvPicPr>
          <p:nvPr/>
        </p:nvPicPr>
        <p:blipFill rotWithShape="1">
          <a:blip r:embed="rId1"/>
          <a:srcRect l="10330" r="12143"/>
          <a:stretch>
            <a:fillRect/>
          </a:stretch>
        </p:blipFill>
        <p:spPr bwMode="auto">
          <a:xfrm>
            <a:off x="4834890" y="635"/>
            <a:ext cx="4309110" cy="514286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 /  DEMO · SELF-CRITIQUE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10/21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0030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4206240" cy="195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 b="1">
                <a:solidFill>
                  <a:srgbClr val="4FD0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IT'S VERIFIED</a:t>
            </a:r>
            <a:endParaRPr lang="en-US" sz="1100" i="1" dirty="0">
              <a:solidFill>
                <a:srgbClr val="8BA0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1100" i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tests (test_self_critique.py, 7/7 passing), including a mocked rejection of a weak hypothesis.</a:t>
            </a:r>
            <a:endParaRPr lang="en-US" sz="1100" i="1" dirty="0">
              <a:solidFill>
                <a:srgbClr val="8BA0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1100" i="1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shown live: a live rejection only happens when the model produces a genuinely weak hypothesis.</a:t>
            </a:r>
            <a:endParaRPr lang="en-US" sz="1100" i="1" dirty="0">
              <a:solidFill>
                <a:srgbClr val="8BA0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1100" i="1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 by default. Enabled with ENABLE_SELF_CRITIQUE=true.</a:t>
            </a:r>
            <a:endParaRPr lang="en-US" sz="1100" i="1" dirty="0">
              <a:solidFill>
                <a:srgbClr val="8BA0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120640" y="713232"/>
            <a:ext cx="3474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It catches itself, out loud.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874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874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Rescore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1671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second pass checks each hypothesis against the original complaint.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7432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7432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 visibly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303580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Discarded guesses are shown to the user, not quietly hidden.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611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36118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Stay in budget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39044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only if under 4 s so far, with a hard 2 s timeout.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  /  DEMO · MULTIMODAL INPUT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11/21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Describe it however it's easiest.</a:t>
            </a:r>
            <a:endParaRPr lang="en-US" sz="3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776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2688" y="395935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it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427939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“phone gets hot while charging”</a:t>
            </a:r>
            <a:endParaRPr lang="en-US" sz="9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39776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75888" y="395935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Say it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675888" y="427939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Voice, transcribed in the browser, then enriched</a:t>
            </a:r>
            <a:endParaRPr lang="en-US" sz="9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9776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419088" y="395935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it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419088" y="427939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photo of the problem, with or without a sentence</a:t>
            </a:r>
            <a:endParaRPr lang="en-US" sz="950" dirty="0"/>
          </a:p>
        </p:txBody>
      </p:sp>
      <p:pic>
        <p:nvPicPr>
          <p:cNvPr id="525471541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2" r="10336" b="19123"/>
          <a:stretch>
            <a:fillRect/>
          </a:stretch>
        </p:blipFill>
        <p:spPr bwMode="auto">
          <a:xfrm>
            <a:off x="3154680" y="1508760"/>
            <a:ext cx="2536063" cy="2331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4224741" name="Pictur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9" r="12985" b="24826"/>
          <a:stretch>
            <a:fillRect/>
          </a:stretch>
        </p:blipFill>
        <p:spPr bwMode="auto">
          <a:xfrm>
            <a:off x="411480" y="1508760"/>
            <a:ext cx="2697480" cy="226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493353" name="Picture 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4" r="8179" b="19591"/>
          <a:stretch>
            <a:fillRect/>
          </a:stretch>
        </p:blipFill>
        <p:spPr bwMode="auto">
          <a:xfrm>
            <a:off x="5897880" y="1508760"/>
            <a:ext cx="2500957" cy="2331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  /  TOOLS &amp; TECH STACK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12/21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035040" y="914400"/>
            <a:ext cx="2743200" cy="274320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92240" y="1371600"/>
            <a:ext cx="1828800" cy="182880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949440" y="1828800"/>
            <a:ext cx="914400" cy="91440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Tools &amp; tech stack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74519"/>
            <a:ext cx="1440180" cy="329184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1874519"/>
            <a:ext cx="14401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+ Uvicorn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25979" y="1874519"/>
            <a:ext cx="822959" cy="329184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125979" y="1874519"/>
            <a:ext cx="822959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Pydantic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86099" y="1874519"/>
            <a:ext cx="2468879" cy="329184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086099" y="1874519"/>
            <a:ext cx="2468879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Gemini · gemini-3.6-flash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3317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48640" y="233172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BM25 · rank_bm25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57400" y="233172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2057400" y="233172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fastembed · all-MiniLM-L6-v2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2331720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389120" y="2331720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78892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48640" y="2788920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Speech API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1920240" y="2788920"/>
            <a:ext cx="1440180" cy="329184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920240" y="2788920"/>
            <a:ext cx="14401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/ JS demo UI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429000"/>
            <a:ext cx="5760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/v1/troubleshoot  ·  GET /health  ·  pure-JSON responses with latency, cache-hit and cost metadata.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Semantic cache is in-memory on the server. Dense embeddings are used for cache matching; deeplink retrieval is BM25.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  /  IMPACT &amp; USE CASE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13/21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From 15 minutes to seconds.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cases: agent assist in support centres, and self-service straight from the device's Settings or support app.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~15 min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918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triage per scenario today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01168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566160" y="23317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4FD08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5.04 s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918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cold-path P95 for a brand-new complaint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01168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309360" y="23317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&lt; 25 ms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2918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 issues from cache, $0 per answer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Theme 2 problem statement (15 min); team latency benchmarks. Industry context: TELUS × Google Cloud report 87% faster resolution and $53.9M in annual savings with Gemini-based customer care (cloud.google.com/customers/telus-gemini-enterprise-cx).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  /  RESULTS VS. THEME 2 TARGETS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14/21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Measured against the brief.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1596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SAMPLE SET = TEAM SAMPLE QUERIES (SMALL N). MISSING ROWS WILL BE MEASURED ON THE OFFICIAL DATASET.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48640" y="1371600"/>
          <a:ext cx="8046720" cy="283464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3383280"/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METRIC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THEME 2 TARGET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OURS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Schema conformance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100% (sample set)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Web-URL leaks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Deeplinks valid in catalog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100% (9/9, sample set)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Exact-screen resolution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Exact screen, not parent menu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B341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69/73 offline mapping · end-to-end: MISSING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Step accuracy (0–3)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vs. reference samples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5D4D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MISSING — needs to be measured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Cache-hit latency, P95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≤ 300 ms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&lt; 25 ms (unseen paraphrases)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Paraphrase cache hit rate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≥ 80%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5D4D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MISSING — needs to be measured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Cold-path latency, P95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≤ 8 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5.04 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Cost per query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Tracked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$0.00027 cold · $0 cache hit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  /  RESULTS · ABLATION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15/21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 ran the ablation. Retrieval wins.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48640" y="1417320"/>
          <a:ext cx="4937760" cy="1536192"/>
        </p:xfrm>
        <a:graphic>
          <a:graphicData uri="http://schemas.openxmlformats.org/drawingml/2006/table">
            <a:tbl>
              <a:tblPr/>
              <a:tblGrid>
                <a:gridCol w="1600200"/>
                <a:gridCol w="731520"/>
                <a:gridCol w="1097280"/>
                <a:gridCol w="594360"/>
                <a:gridCol w="9144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VARIANT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SCHEMA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CATALOG-VALID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P95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COST / QUERY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FD08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 · BM25 + label match (ours)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 (9/9)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5.0 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$0.00027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 · LLM only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56% (5/9)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6.3 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$0.00084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 · Rules only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78% (7/9)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5.0 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$0.00018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10896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LLM-only invented non-catalog URIs on 3 queries and attached deeplinks to reboot steps. Rules-only mapped “app” and “camera” to the wrong screens.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6052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Ablation on the sample query set (9 actions). Step accuracy per variant: MISSING — needs to be measured.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806440" y="1417320"/>
            <a:ext cx="2788920" cy="3200400"/>
          </a:xfrm>
          <a:prstGeom prst="roundRect">
            <a:avLst>
              <a:gd name="adj" fmla="val 2623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989320" y="1572768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CATALOG · ACTION → SCREEN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87452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4FD08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1874520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held-out  ·  18/18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587752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94%</a:t>
            </a:r>
            <a:endParaRPr lang="en-US" sz="3000" dirty="0"/>
          </a:p>
        </p:txBody>
      </p:sp>
      <p:sp>
        <p:nvSpPr>
          <p:cNvPr id="6" name="Text 11"/>
          <p:cNvSpPr txBox="1"/>
          <p:nvPr/>
        </p:nvSpPr>
        <p:spPr>
          <a:xfrm>
            <a:off x="7178040" y="2587752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  ·  31/33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3300984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91%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3300984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calibration  ·  20/22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989320" y="3977639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69/73 correct, offline. 1 wrong screen; the other misses fell back to a safe screen.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  /  RESULTS · RELIABILITY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16/21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Every failure has a ceiling.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COLD PATH, P95 vs. 8 s SPEC CEILING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8046720" cy="310896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1737360"/>
            <a:ext cx="5069434" cy="310896"/>
          </a:xfrm>
          <a:prstGeom prst="roundRect">
            <a:avLst>
              <a:gd name="adj" fmla="val 50000"/>
            </a:avLst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85800" y="173736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01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5.04 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1737360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8.0 s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48640" y="2331720"/>
          <a:ext cx="8046720" cy="219456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1371600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WHAT BREAKS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WHAT SENTRY DOES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BOUND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Primary key hits quota (429)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Backup key takes over inside the same request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invisible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Both keys exhausted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Fails fast, no backoff; clean honest response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&lt; 500 ms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Upstream 503 / timeout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retry, then a clean fallback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≤ 8 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Self-critique runs slow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Skipped past 4 s elapsed; hard 2 s timeout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≤ 8 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17  /  LIMITATIONS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17/21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we'd tell you before you asked.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0B34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Late dataset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242316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official PRISM dataset arrived mid-hackathon. We built on sample data, then benchmarked against the real catalog once it landed.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6916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0B34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Free-tier Gemini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148840"/>
            <a:ext cx="242316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per-minute and per-day request limits. The dual-key failover exists because of this, and it's tested, not theoretical.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6916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0B34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One action per screen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148840"/>
            <a:ext cx="242316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 2 requires one action per screen. We check it in code, but today a violation raises a warning instead of rejecting the plan. Hard enforcement is next.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17232A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379476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DE8E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Also open: small test sets; step accuracy, paraphrase hit rate and voice/photo accuracy not yet measured. None of these need an architecture change.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18  /  WHAT'S NEXT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18/21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4FD08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Yes.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DE8E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Can it become a worklet? The path is short, not theoretical.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49040" y="86868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931920" y="10332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00584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Swap in the full catalog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325880"/>
            <a:ext cx="402336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 was built on the same schema from day one. The official 578-entry catalog already runs with zero code changes.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210312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931920" y="22677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24028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the cache on-device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560320"/>
            <a:ext cx="402336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 the cache runs in our backend: a hit makes no LLM call. Running the same lookup on the phone would keep repeat complaints private, in line with Galaxy AI.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333756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3931920" y="35021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347472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Harden retrieval for real phrasing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3794760"/>
            <a:ext cx="402336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 users are messier than any hackathon set. The architecture absorbs more data without a redesign.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  /  BROWNIE POINTS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19/21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4FD08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Beyond the brief.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DE8E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Six things we built that Theme 2 didn't ask for.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66160" y="777240"/>
            <a:ext cx="2423160" cy="1097280"/>
          </a:xfrm>
          <a:prstGeom prst="roundRect">
            <a:avLst>
              <a:gd name="adj" fmla="val 695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675887" y="89611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868680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Self-critique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188720"/>
            <a:ext cx="187451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Optional second pass rescores hypotheses and shows rejections. Verified by a mocked test.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53912" y="777240"/>
            <a:ext cx="2423160" cy="1097280"/>
          </a:xfrm>
          <a:prstGeom prst="roundRect">
            <a:avLst>
              <a:gd name="adj" fmla="val 695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263640" y="89611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11112" y="868680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 veto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611112" y="1188720"/>
            <a:ext cx="187451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Polarity + entity rules stop “Bluetooth on” getting the “off” fix.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2039112"/>
            <a:ext cx="2423160" cy="1097280"/>
          </a:xfrm>
          <a:prstGeom prst="roundRect">
            <a:avLst>
              <a:gd name="adj" fmla="val 695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3675887" y="215798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2130552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Dual-key failover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2450592"/>
            <a:ext cx="187451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quota hit on one key switches to the backup inside the same request.</a:t>
            </a:r>
            <a:endParaRPr lang="en-US" sz="1000" dirty="0"/>
          </a:p>
        </p:txBody>
      </p:sp>
      <p:sp>
        <p:nvSpPr>
          <p:cNvPr id="19" name="Shape 5"/>
          <p:cNvSpPr/>
          <p:nvPr/>
        </p:nvSpPr>
        <p:spPr>
          <a:xfrm>
            <a:off x="6153912" y="2039112"/>
            <a:ext cx="2423160" cy="1097280"/>
          </a:xfrm>
          <a:prstGeom prst="roundRect">
            <a:avLst>
              <a:gd name="adj" fmla="val 695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20" name="Text 6"/>
          <p:cNvSpPr txBox="1"/>
          <p:nvPr/>
        </p:nvSpPr>
        <p:spPr>
          <a:xfrm>
            <a:off x="6263640" y="215798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7"/>
          <p:cNvSpPr txBox="1"/>
          <p:nvPr/>
        </p:nvSpPr>
        <p:spPr>
          <a:xfrm>
            <a:off x="6611112" y="2130552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Multimodal input</a:t>
            </a:r>
            <a:endParaRPr lang="en-US" sz="1350" dirty="0"/>
          </a:p>
        </p:txBody>
      </p:sp>
      <p:sp>
        <p:nvSpPr>
          <p:cNvPr id="22" name="Text 8"/>
          <p:cNvSpPr txBox="1"/>
          <p:nvPr/>
        </p:nvSpPr>
        <p:spPr>
          <a:xfrm>
            <a:off x="6611112" y="2450592"/>
            <a:ext cx="187451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Text, voice, photo, or a photo plus a sentence.</a:t>
            </a:r>
            <a:endParaRPr lang="en-US" sz="1000" dirty="0"/>
          </a:p>
        </p:txBody>
      </p:sp>
      <p:sp>
        <p:nvSpPr>
          <p:cNvPr id="23" name="Shape 9"/>
          <p:cNvSpPr/>
          <p:nvPr/>
        </p:nvSpPr>
        <p:spPr>
          <a:xfrm>
            <a:off x="3566160" y="3300984"/>
            <a:ext cx="2423160" cy="1097280"/>
          </a:xfrm>
          <a:prstGeom prst="roundRect">
            <a:avLst>
              <a:gd name="adj" fmla="val 695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24" name="Text 10"/>
          <p:cNvSpPr txBox="1"/>
          <p:nvPr/>
        </p:nvSpPr>
        <p:spPr>
          <a:xfrm>
            <a:off x="3675887" y="341985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11"/>
          <p:cNvSpPr txBox="1"/>
          <p:nvPr/>
        </p:nvSpPr>
        <p:spPr>
          <a:xfrm>
            <a:off x="4023360" y="3392424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Clarifying question</a:t>
            </a:r>
            <a:endParaRPr lang="en-US" sz="1350" dirty="0"/>
          </a:p>
        </p:txBody>
      </p:sp>
      <p:sp>
        <p:nvSpPr>
          <p:cNvPr id="26" name="Text 12"/>
          <p:cNvSpPr txBox="1"/>
          <p:nvPr/>
        </p:nvSpPr>
        <p:spPr>
          <a:xfrm>
            <a:off x="4023360" y="3712463"/>
            <a:ext cx="187451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two causes are too close to call, it asks one question.</a:t>
            </a:r>
            <a:endParaRPr lang="en-US" sz="1000" dirty="0"/>
          </a:p>
        </p:txBody>
      </p:sp>
      <p:sp>
        <p:nvSpPr>
          <p:cNvPr id="27" name="Shape 13"/>
          <p:cNvSpPr/>
          <p:nvPr/>
        </p:nvSpPr>
        <p:spPr>
          <a:xfrm>
            <a:off x="6153912" y="3300984"/>
            <a:ext cx="2423160" cy="1097280"/>
          </a:xfrm>
          <a:prstGeom prst="roundRect">
            <a:avLst>
              <a:gd name="adj" fmla="val 695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28" name="Text 14"/>
          <p:cNvSpPr txBox="1"/>
          <p:nvPr/>
        </p:nvSpPr>
        <p:spPr>
          <a:xfrm>
            <a:off x="6263640" y="341985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15"/>
          <p:cNvSpPr txBox="1"/>
          <p:nvPr/>
        </p:nvSpPr>
        <p:spPr>
          <a:xfrm>
            <a:off x="6611112" y="3392424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Off-domain refusal</a:t>
            </a:r>
            <a:endParaRPr lang="en-US" sz="1350" dirty="0"/>
          </a:p>
        </p:txBody>
      </p:sp>
      <p:sp>
        <p:nvSpPr>
          <p:cNvPr id="30" name="Text 16"/>
          <p:cNvSpPr txBox="1"/>
          <p:nvPr/>
        </p:nvSpPr>
        <p:spPr>
          <a:xfrm>
            <a:off x="6611112" y="3712463"/>
            <a:ext cx="187451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Non-device complaints get no_match, not invented steps.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  /  CHECKLIST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20/21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Theme 2 checklist.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48640" y="1371600"/>
          <a:ext cx="8046720" cy="3209544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1371600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REQUIREMENT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HOW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STATUS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Zero web-URL leaks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Programmatic scrub on every generated step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✓ Done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Catalog-only deeplinks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Matched on catalog descriptions; every URI validated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✓ Done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dummy_positive for unindexed screens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Used only when no catalog entry exists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✓ Done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hallucinated steps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viable fix → contexts: [] + fallback: no_match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✓ Done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Pure JSON delivery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Pydantic-validated, no markdown wrapping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✓ Done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Action order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Safe settings first, critical / destructive last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✓ Done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8–10 query variations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Generated at enrichment (ENABLE_QUERY_VARIATIONS)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✓ Implemented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Action = One Screen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Checked in code; raises a warning, not a rejection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0B341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Partial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REST API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POST /v1/troubleshoot · GET /health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✓ Done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Containerised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Dockerfile with health check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✓ Done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Latency targets (P95)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≤ 300 ms cache hit · ≤ 8 s cold → &lt; 25 ms · 5.04 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✓ Met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Hit rate · step &amp; screen accuracy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See slide 14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5D4D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MISSING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21  /  THANK YOU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21/21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035040" y="914400"/>
            <a:ext cx="2743200" cy="274320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92240" y="1371600"/>
            <a:ext cx="1828800" cy="182880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949440" y="1828800"/>
            <a:ext cx="914400" cy="91440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148840"/>
            <a:ext cx="5486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Ember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Manya Singh  ·  Krishita Gupta  ·  Muskaan Arora  ·  VIT Vellore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hlinkClick r:id="rId3"/>
              </a:rPr>
              <a:t>https://github.com/manya-singh7/Sentry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hlinkClick r:id="rId4"/>
              </a:rPr>
              <a:t>Demo &amp; project files (Google Drive)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6892</Words>
  <Application>WPS Presentation</Application>
  <PresentationFormat>On-screen Show (16:9)</PresentationFormat>
  <Paragraphs>464</Paragraphs>
  <Slides>21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SimSun</vt:lpstr>
      <vt:lpstr>Wingdings</vt:lpstr>
      <vt:lpstr>Consolas</vt:lpstr>
      <vt:lpstr>Consolas</vt:lpstr>
      <vt:lpstr>Consolas</vt:lpstr>
      <vt:lpstr>Georgia</vt:lpstr>
      <vt:lpstr>Georgia</vt:lpstr>
      <vt:lpstr>Georgia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Sentry — Team Ember</dc:title>
  <dc:creator>PptxGenJS</dc:creator>
  <dc:subject>PptxGenJS Presentation</dc:subject>
  <cp:lastModifiedBy>Manya Singh</cp:lastModifiedBy>
  <cp:revision>3</cp:revision>
  <dcterms:created xsi:type="dcterms:W3CDTF">2026-09-30T18:26:00Z</dcterms:created>
  <dcterms:modified xsi:type="dcterms:W3CDTF">2026-10-01T14:31:29Z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F0A9A42773C24E33B9549977C912E723_13</vt:lpwstr>
  </property>
</Properties>
</file>